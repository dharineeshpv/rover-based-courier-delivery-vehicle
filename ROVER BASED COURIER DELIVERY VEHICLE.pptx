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6" r:id="rId4"/>
    <p:sldId id="258" r:id="rId5"/>
    <p:sldId id="259" r:id="rId6"/>
    <p:sldId id="267" r:id="rId7"/>
    <p:sldId id="260" r:id="rId8"/>
    <p:sldId id="264" r:id="rId9"/>
    <p:sldId id="263" r:id="rId10"/>
    <p:sldId id="262" r:id="rId11"/>
    <p:sldId id="261"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5387C1-0F45-436F-A30C-076668B3F841}" v="47" dt="2025-06-02T15:07:53.11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6/2/2025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2" name="Title 1"/>
          <p:cNvSpPr>
            <a:spLocks noGrp="1"/>
          </p:cNvSpPr>
          <p:nvPr>
            <p:ph type="ctrTitle"/>
          </p:nvPr>
        </p:nvSpPr>
        <p:spPr>
          <a:xfrm>
            <a:off x="140335" y="1122680"/>
            <a:ext cx="11730990" cy="2387600"/>
          </a:xfrm>
        </p:spPr>
        <p:txBody>
          <a:bodyPr>
            <a:normAutofit/>
          </a:bodyPr>
          <a:lstStyle/>
          <a:p>
            <a:r>
              <a:rPr lang="en-US" altLang="en-GB" sz="3200" dirty="0">
                <a:latin typeface="Times New Roman" panose="02020603050405020304" charset="0"/>
                <a:cs typeface="Times New Roman" panose="02020603050405020304" charset="0"/>
              </a:rPr>
              <a:t>DEPARTMENT OF ELECTRONICS AND COMMUNICATION ENGINEERING</a:t>
            </a:r>
            <a:br>
              <a:rPr lang="en-US" altLang="en-GB" sz="3200" dirty="0">
                <a:latin typeface="Times New Roman" panose="02020603050405020304" charset="0"/>
                <a:cs typeface="Times New Roman" panose="02020603050405020304" charset="0"/>
              </a:rPr>
            </a:br>
            <a:br>
              <a:rPr lang="en-US" altLang="en-GB" sz="3200" dirty="0">
                <a:latin typeface="Times New Roman" panose="02020603050405020304" charset="0"/>
                <a:cs typeface="Times New Roman" panose="02020603050405020304" charset="0"/>
              </a:rPr>
            </a:br>
            <a:r>
              <a:rPr lang="en-US" altLang="en-GB" sz="3200" dirty="0">
                <a:latin typeface="Times New Roman" panose="02020603050405020304" charset="0"/>
                <a:cs typeface="Times New Roman" panose="02020603050405020304" charset="0"/>
              </a:rPr>
              <a:t>Academic Year 2024-2025 (EVEN SEM)</a:t>
            </a:r>
          </a:p>
        </p:txBody>
      </p:sp>
      <p:sp>
        <p:nvSpPr>
          <p:cNvPr id="3" name="Subtitle 2"/>
          <p:cNvSpPr>
            <a:spLocks noGrp="1"/>
          </p:cNvSpPr>
          <p:nvPr>
            <p:ph type="subTitle" idx="1"/>
          </p:nvPr>
        </p:nvSpPr>
        <p:spPr>
          <a:xfrm>
            <a:off x="949960" y="3602355"/>
            <a:ext cx="9718040" cy="2156460"/>
          </a:xfrm>
        </p:spPr>
        <p:txBody>
          <a:bodyPr/>
          <a:lstStyle/>
          <a:p>
            <a:endParaRPr lang="en-US" altLang="en-GB" sz="2800">
              <a:latin typeface="Times New Roman" panose="02020603050405020304" charset="0"/>
              <a:cs typeface="Times New Roman" panose="02020603050405020304" charset="0"/>
            </a:endParaRPr>
          </a:p>
          <a:p>
            <a:r>
              <a:rPr lang="en-US" altLang="en-GB" sz="2800">
                <a:latin typeface="Times New Roman" panose="02020603050405020304" charset="0"/>
                <a:cs typeface="Times New Roman" panose="02020603050405020304" charset="0"/>
                <a:sym typeface="+mn-ea"/>
              </a:rPr>
              <a:t>ECB1223 – MICROCONTROLLER AND INTERFACING</a:t>
            </a:r>
            <a:endParaRPr lang="en-US" altLang="en-GB" sz="2800"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3" name="Content Placeholder 2"/>
          <p:cNvSpPr>
            <a:spLocks noGrp="1"/>
          </p:cNvSpPr>
          <p:nvPr>
            <p:ph idx="1"/>
          </p:nvPr>
        </p:nvSpPr>
        <p:spPr>
          <a:xfrm>
            <a:off x="307428" y="466531"/>
            <a:ext cx="11579772" cy="5863324"/>
          </a:xfrm>
        </p:spPr>
        <p:txBody>
          <a:bodyPr>
            <a:normAutofit/>
          </a:bodyPr>
          <a:lstStyle/>
          <a:p>
            <a:endParaRPr lang="en-US" altLang="en-GB" dirty="0"/>
          </a:p>
          <a:p>
            <a:pPr marL="0" indent="0" algn="ctr">
              <a:buNone/>
            </a:pPr>
            <a:r>
              <a:rPr lang="en-IN" altLang="en-US" b="1" dirty="0">
                <a:latin typeface="Times New Roman" panose="02020603050405020304" charset="0"/>
                <a:cs typeface="Times New Roman" panose="02020603050405020304" charset="0"/>
                <a:sym typeface="+mn-ea"/>
              </a:rPr>
              <a:t>ROVER BASED COURIER DELIVERY VEHICLE</a:t>
            </a:r>
          </a:p>
          <a:p>
            <a:pPr marL="0" indent="0">
              <a:buNone/>
            </a:pPr>
            <a:endParaRPr lang="en-US" altLang="en-GB" dirty="0">
              <a:latin typeface="Times New Roman" panose="02020603050405020304" charset="0"/>
              <a:cs typeface="Times New Roman" panose="02020603050405020304" charset="0"/>
            </a:endParaRPr>
          </a:p>
          <a:p>
            <a:pPr marL="0" indent="0">
              <a:buNone/>
            </a:pPr>
            <a:r>
              <a:rPr lang="en-US" altLang="en-GB" dirty="0"/>
              <a:t>Team members                                                             Guide Name</a:t>
            </a:r>
          </a:p>
          <a:p>
            <a:pPr marL="0" indent="0">
              <a:buNone/>
            </a:pPr>
            <a:r>
              <a:rPr lang="en-GB" altLang="en-US" dirty="0">
                <a:latin typeface="Times New Roman" panose="02020603050405020304" charset="0"/>
                <a:cs typeface="Times New Roman" panose="02020603050405020304" charset="0"/>
              </a:rPr>
              <a:t>                                                                                      </a:t>
            </a:r>
            <a:r>
              <a:rPr lang="en-US" altLang="en-GB" dirty="0">
                <a:sym typeface="+mn-ea"/>
              </a:rPr>
              <a:t> </a:t>
            </a:r>
            <a:endParaRPr lang="en-US" altLang="en-GB" dirty="0">
              <a:latin typeface="Times New Roman" panose="02020603050405020304" charset="0"/>
              <a:cs typeface="Times New Roman" panose="02020603050405020304" charset="0"/>
            </a:endParaRPr>
          </a:p>
          <a:p>
            <a:pPr marL="0" indent="0">
              <a:buNone/>
            </a:pPr>
            <a:r>
              <a:rPr lang="en-US" altLang="en-GB" sz="2400" dirty="0">
                <a:latin typeface="Times New Roman" panose="02020603050405020304" pitchFamily="18" charset="0"/>
                <a:cs typeface="Times New Roman" panose="02020603050405020304" pitchFamily="18" charset="0"/>
              </a:rPr>
              <a:t>A</a:t>
            </a:r>
            <a:r>
              <a:rPr lang="en-GB" altLang="en-US" sz="2400" dirty="0">
                <a:latin typeface="Times New Roman" panose="02020603050405020304" pitchFamily="18" charset="0"/>
                <a:cs typeface="Times New Roman" panose="02020603050405020304" pitchFamily="18" charset="0"/>
              </a:rPr>
              <a:t>BHISHEK KUMAR V </a:t>
            </a:r>
            <a:r>
              <a:rPr lang="en-US" altLang="en-GB" sz="2400" dirty="0">
                <a:latin typeface="Times New Roman" panose="02020603050405020304" pitchFamily="18" charset="0"/>
                <a:cs typeface="Times New Roman" panose="02020603050405020304" pitchFamily="18" charset="0"/>
              </a:rPr>
              <a:t> – 927623BEC00</a:t>
            </a:r>
            <a:r>
              <a:rPr lang="en-GB" altLang="en-US" sz="2400" dirty="0">
                <a:latin typeface="Times New Roman" panose="02020603050405020304" pitchFamily="18" charset="0"/>
                <a:cs typeface="Times New Roman" panose="02020603050405020304" pitchFamily="18" charset="0"/>
              </a:rPr>
              <a:t>1                            </a:t>
            </a:r>
            <a:r>
              <a:rPr lang="en-US" altLang="en-GB" sz="2400" dirty="0" err="1">
                <a:latin typeface="Times New Roman" panose="02020603050405020304" pitchFamily="18" charset="0"/>
                <a:cs typeface="Times New Roman" panose="02020603050405020304" pitchFamily="18" charset="0"/>
                <a:sym typeface="+mn-ea"/>
              </a:rPr>
              <a:t>Dr.K.KARTHIKEYAN</a:t>
            </a:r>
            <a:r>
              <a:rPr lang="en-US" altLang="en-GB" sz="2400" dirty="0">
                <a:latin typeface="Times New Roman" panose="02020603050405020304" pitchFamily="18" charset="0"/>
                <a:cs typeface="Times New Roman" panose="02020603050405020304" pitchFamily="18" charset="0"/>
                <a:sym typeface="+mn-ea"/>
              </a:rPr>
              <a:t> </a:t>
            </a:r>
            <a:endParaRPr lang="en-US" altLang="en-GB" sz="2400" dirty="0">
              <a:latin typeface="Times New Roman" panose="02020603050405020304" pitchFamily="18" charset="0"/>
              <a:cs typeface="Times New Roman" panose="02020603050405020304" pitchFamily="18" charset="0"/>
            </a:endParaRPr>
          </a:p>
          <a:p>
            <a:pPr marL="0" indent="0">
              <a:buNone/>
            </a:pPr>
            <a:r>
              <a:rPr lang="en-US" altLang="en-GB" sz="2400" dirty="0">
                <a:latin typeface="Times New Roman" panose="02020603050405020304" pitchFamily="18" charset="0"/>
                <a:cs typeface="Times New Roman" panose="02020603050405020304" pitchFamily="18" charset="0"/>
              </a:rPr>
              <a:t>A</a:t>
            </a:r>
            <a:r>
              <a:rPr lang="en-GB" altLang="en-US" sz="2400" dirty="0">
                <a:latin typeface="Times New Roman" panose="02020603050405020304" pitchFamily="18" charset="0"/>
                <a:cs typeface="Times New Roman" panose="02020603050405020304" pitchFamily="18" charset="0"/>
              </a:rPr>
              <a:t>BSAL K A</a:t>
            </a:r>
            <a:r>
              <a:rPr lang="en-US" altLang="en-GB" sz="2400" dirty="0">
                <a:latin typeface="Times New Roman" panose="02020603050405020304" pitchFamily="18" charset="0"/>
                <a:cs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                    </a:t>
            </a:r>
            <a:r>
              <a:rPr lang="en-US" altLang="en-GB" sz="2400" dirty="0">
                <a:latin typeface="Times New Roman" panose="02020603050405020304" pitchFamily="18" charset="0"/>
                <a:cs typeface="Times New Roman" panose="02020603050405020304" pitchFamily="18" charset="0"/>
              </a:rPr>
              <a:t>– 927623BEC</a:t>
            </a:r>
            <a:r>
              <a:rPr lang="en-GB" altLang="en-US" sz="2400" dirty="0">
                <a:latin typeface="Times New Roman" panose="02020603050405020304" pitchFamily="18" charset="0"/>
                <a:cs typeface="Times New Roman" panose="02020603050405020304" pitchFamily="18" charset="0"/>
              </a:rPr>
              <a:t>004                             </a:t>
            </a:r>
            <a:r>
              <a:rPr lang="en-US" altLang="en-GB" sz="2400" dirty="0" err="1">
                <a:latin typeface="Times New Roman" panose="02020603050405020304" pitchFamily="18" charset="0"/>
                <a:cs typeface="Times New Roman" panose="02020603050405020304" pitchFamily="18" charset="0"/>
                <a:sym typeface="+mn-ea"/>
              </a:rPr>
              <a:t>Ms.SENTHAMIL</a:t>
            </a:r>
            <a:r>
              <a:rPr lang="en-US" altLang="en-GB" sz="2400" dirty="0">
                <a:latin typeface="Times New Roman" panose="02020603050405020304" pitchFamily="18" charset="0"/>
                <a:cs typeface="Times New Roman" panose="02020603050405020304" pitchFamily="18" charset="0"/>
                <a:sym typeface="+mn-ea"/>
              </a:rPr>
              <a:t> SELVI</a:t>
            </a:r>
            <a:endParaRPr lang="en-US" altLang="en-GB" sz="2400" dirty="0">
              <a:latin typeface="Times New Roman" panose="02020603050405020304" pitchFamily="18" charset="0"/>
              <a:cs typeface="Times New Roman" panose="02020603050405020304" pitchFamily="18" charset="0"/>
            </a:endParaRPr>
          </a:p>
          <a:p>
            <a:pPr marL="0" indent="0">
              <a:buNone/>
            </a:pPr>
            <a:r>
              <a:rPr lang="en-GB" altLang="en-US" sz="2400" dirty="0">
                <a:latin typeface="Times New Roman" panose="02020603050405020304" pitchFamily="18" charset="0"/>
                <a:cs typeface="Times New Roman" panose="02020603050405020304" pitchFamily="18" charset="0"/>
              </a:rPr>
              <a:t>AJIN R</a:t>
            </a:r>
            <a:r>
              <a:rPr lang="en-US" altLang="en-GB" sz="2400" dirty="0">
                <a:latin typeface="Times New Roman" panose="02020603050405020304" pitchFamily="18" charset="0"/>
                <a:cs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               </a:t>
            </a:r>
            <a:r>
              <a:rPr lang="en-US" altLang="en-GB" sz="2400" dirty="0">
                <a:latin typeface="Times New Roman" panose="02020603050405020304" pitchFamily="18" charset="0"/>
                <a:cs typeface="Times New Roman" panose="02020603050405020304" pitchFamily="18" charset="0"/>
              </a:rPr>
              <a:t>            – 927623BEC0</a:t>
            </a:r>
            <a:r>
              <a:rPr lang="en-GB" altLang="en-US" sz="2400" dirty="0">
                <a:latin typeface="Times New Roman" panose="02020603050405020304" pitchFamily="18" charset="0"/>
                <a:cs typeface="Times New Roman" panose="02020603050405020304" pitchFamily="18" charset="0"/>
              </a:rPr>
              <a:t>05</a:t>
            </a:r>
            <a:endParaRPr lang="en-US" altLang="en-GB" sz="2400" dirty="0">
              <a:latin typeface="Times New Roman" panose="02020603050405020304" pitchFamily="18" charset="0"/>
              <a:cs typeface="Times New Roman" panose="02020603050405020304" pitchFamily="18" charset="0"/>
            </a:endParaRPr>
          </a:p>
          <a:p>
            <a:pPr marL="0" indent="0">
              <a:buNone/>
            </a:pPr>
            <a:r>
              <a:rPr lang="en-GB" altLang="en-US" sz="2400" dirty="0">
                <a:latin typeface="Times New Roman" panose="02020603050405020304" pitchFamily="18" charset="0"/>
                <a:cs typeface="Times New Roman" panose="02020603050405020304" pitchFamily="18" charset="0"/>
              </a:rPr>
              <a:t>DHARINEESH P V  </a:t>
            </a:r>
            <a:r>
              <a:rPr lang="en-US" altLang="en-GB" sz="2400" dirty="0">
                <a:latin typeface="Times New Roman" panose="02020603050405020304" pitchFamily="18" charset="0"/>
                <a:cs typeface="Times New Roman" panose="02020603050405020304" pitchFamily="18" charset="0"/>
              </a:rPr>
              <a:t>      – 927623BEC0</a:t>
            </a:r>
            <a:r>
              <a:rPr lang="en-GB" altLang="en-US" sz="2400" dirty="0">
                <a:latin typeface="Times New Roman" panose="02020603050405020304" pitchFamily="18" charset="0"/>
                <a:cs typeface="Times New Roman" panose="02020603050405020304" pitchFamily="18" charset="0"/>
              </a:rPr>
              <a:t>3</a:t>
            </a:r>
            <a:r>
              <a:rPr lang="en-US" altLang="en-GB" sz="2400" dirty="0">
                <a:latin typeface="Times New Roman" panose="02020603050405020304" pitchFamily="18" charset="0"/>
                <a:cs typeface="Times New Roman" panose="02020603050405020304" pitchFamily="18" charset="0"/>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138D2-D9DD-D150-530C-DF4F02CD3F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575B22-3A17-5CD3-044D-22A75410A221}"/>
              </a:ext>
            </a:extLst>
          </p:cNvPr>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3" name="Content Placeholder 2">
            <a:extLst>
              <a:ext uri="{FF2B5EF4-FFF2-40B4-BE49-F238E27FC236}">
                <a16:creationId xmlns:a16="http://schemas.microsoft.com/office/drawing/2014/main" id="{4448D375-0975-A586-2608-40CAAD918917}"/>
              </a:ext>
            </a:extLst>
          </p:cNvPr>
          <p:cNvSpPr>
            <a:spLocks noGrp="1"/>
          </p:cNvSpPr>
          <p:nvPr>
            <p:ph idx="1"/>
          </p:nvPr>
        </p:nvSpPr>
        <p:spPr>
          <a:xfrm>
            <a:off x="307428" y="466531"/>
            <a:ext cx="11579772" cy="783771"/>
          </a:xfrm>
        </p:spPr>
        <p:txBody>
          <a:bodyPr>
            <a:normAutofit/>
          </a:bodyPr>
          <a:lstStyle/>
          <a:p>
            <a:pPr marL="0" indent="0">
              <a:buNone/>
            </a:pPr>
            <a:r>
              <a:rPr lang="en-US" altLang="en-GB" sz="4000" dirty="0">
                <a:latin typeface="Times New Roman" panose="02020603050405020304" pitchFamily="18" charset="0"/>
                <a:cs typeface="Times New Roman" panose="02020603050405020304" pitchFamily="18" charset="0"/>
              </a:rPr>
              <a:t>     Introduction</a:t>
            </a:r>
          </a:p>
          <a:p>
            <a:pPr marL="0" indent="0" algn="ctr">
              <a:buNone/>
            </a:pPr>
            <a:endParaRPr lang="en-US" altLang="en-GB"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56639CD-C943-C3B1-F16E-22302637795B}"/>
              </a:ext>
            </a:extLst>
          </p:cNvPr>
          <p:cNvSpPr txBox="1"/>
          <p:nvPr/>
        </p:nvSpPr>
        <p:spPr>
          <a:xfrm>
            <a:off x="783770" y="1483567"/>
            <a:ext cx="10832841" cy="2062103"/>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Rover-Based Courier Delivery Vehicle is a small, wheeled machine that helps deliver things like parcels or food. It can move by itself on a set path or be controlled from a distance. This robot makes delivery easier because it does not need a person to carry the items. It is helpful for sending things over short distances, saving time and effort.</a:t>
            </a:r>
            <a:endParaRPr lang="en-IN" dirty="0"/>
          </a:p>
        </p:txBody>
      </p:sp>
    </p:spTree>
    <p:extLst>
      <p:ext uri="{BB962C8B-B14F-4D97-AF65-F5344CB8AC3E}">
        <p14:creationId xmlns:p14="http://schemas.microsoft.com/office/powerpoint/2010/main" val="869188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2" name="Title 1"/>
          <p:cNvSpPr>
            <a:spLocks noGrp="1"/>
          </p:cNvSpPr>
          <p:nvPr>
            <p:ph type="title"/>
          </p:nvPr>
        </p:nvSpPr>
        <p:spPr/>
        <p:txBody>
          <a:bodyPr/>
          <a:lstStyle/>
          <a:p>
            <a:r>
              <a:rPr lang="en-US" altLang="en-GB" sz="4000" dirty="0">
                <a:latin typeface="Times New Roman" panose="02020603050405020304" charset="0"/>
                <a:cs typeface="Times New Roman" panose="02020603050405020304" charset="0"/>
              </a:rPr>
              <a:t>Problem Statement</a:t>
            </a:r>
          </a:p>
        </p:txBody>
      </p:sp>
      <p:sp>
        <p:nvSpPr>
          <p:cNvPr id="3" name="Content Placeholder 2"/>
          <p:cNvSpPr>
            <a:spLocks noGrp="1"/>
          </p:cNvSpPr>
          <p:nvPr>
            <p:ph idx="1"/>
          </p:nvPr>
        </p:nvSpPr>
        <p:spPr/>
        <p:txBody>
          <a:bodyPr/>
          <a:lstStyle/>
          <a:p>
            <a:pPr marL="0" indent="0" algn="just">
              <a:buNone/>
            </a:pPr>
            <a:r>
              <a:rPr lang="en-US" altLang="en-US" dirty="0">
                <a:latin typeface="Times New Roman" panose="02020603050405020304" charset="0"/>
                <a:cs typeface="Times New Roman" panose="02020603050405020304" charset="0"/>
              </a:rPr>
              <a:t>	</a:t>
            </a:r>
            <a:r>
              <a:rPr lang="en-US" altLang="en-GB" sz="2400" dirty="0">
                <a:latin typeface="Times New Roman" panose="02020603050405020304" charset="0"/>
                <a:cs typeface="Times New Roman" panose="02020603050405020304" charset="0"/>
              </a:rPr>
              <a:t>Traditional courier delivery systems face challenges like traffic delays, high labor costs, and limited efficiency. There is a need for an autonomous solution that can deliver packages quickly, safely, and cost-effectively. A rover-based courier delivery vehicle can address these issues by using a small, self-driving robot to perform last-mile deliveries with minimal human involvement.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2" name="Title 1"/>
          <p:cNvSpPr>
            <a:spLocks noGrp="1"/>
          </p:cNvSpPr>
          <p:nvPr>
            <p:ph type="title"/>
          </p:nvPr>
        </p:nvSpPr>
        <p:spPr/>
        <p:txBody>
          <a:bodyPr/>
          <a:lstStyle/>
          <a:p>
            <a:r>
              <a:rPr lang="en-US" altLang="en-GB" sz="4000">
                <a:latin typeface="Times New Roman" panose="02020603050405020304" charset="0"/>
                <a:cs typeface="Times New Roman" panose="02020603050405020304" charset="0"/>
              </a:rPr>
              <a:t>Objectives</a:t>
            </a:r>
          </a:p>
        </p:txBody>
      </p:sp>
      <p:sp>
        <p:nvSpPr>
          <p:cNvPr id="3" name="Content Placeholder 2"/>
          <p:cNvSpPr>
            <a:spLocks noGrp="1"/>
          </p:cNvSpPr>
          <p:nvPr>
            <p:ph idx="1"/>
          </p:nvPr>
        </p:nvSpPr>
        <p:spPr/>
        <p:txBody>
          <a:bodyPr/>
          <a:lstStyle/>
          <a:p>
            <a:pPr algn="just"/>
            <a:r>
              <a:rPr lang="en-US" altLang="en-GB" sz="2400" dirty="0">
                <a:latin typeface="Times New Roman" panose="02020603050405020304" charset="0"/>
                <a:cs typeface="Times New Roman" panose="02020603050405020304" charset="0"/>
              </a:rPr>
              <a:t>The objective of this project is to create a small, self-driving rover that can deliver packages without human help. </a:t>
            </a:r>
          </a:p>
          <a:p>
            <a:pPr algn="just"/>
            <a:r>
              <a:rPr lang="en-IN" altLang="en-US" sz="2400" dirty="0">
                <a:latin typeface="Times New Roman" panose="02020603050405020304" charset="0"/>
                <a:cs typeface="Times New Roman" panose="02020603050405020304" charset="0"/>
              </a:rPr>
              <a:t>I</a:t>
            </a:r>
            <a:r>
              <a:rPr lang="en-US" altLang="en-GB" sz="2400" dirty="0">
                <a:latin typeface="Times New Roman" panose="02020603050405020304" charset="0"/>
                <a:cs typeface="Times New Roman" panose="02020603050405020304" charset="0"/>
              </a:rPr>
              <a:t>t should move safely on roads or paths and avoid obstacles. </a:t>
            </a:r>
          </a:p>
          <a:p>
            <a:pPr algn="just"/>
            <a:r>
              <a:rPr lang="en-US" altLang="en-GB" sz="2400" dirty="0">
                <a:latin typeface="Times New Roman" panose="02020603050405020304" charset="0"/>
                <a:cs typeface="Times New Roman" panose="02020603050405020304" charset="0"/>
              </a:rPr>
              <a:t>The rover will take packages to the correct address in a secure way.</a:t>
            </a:r>
          </a:p>
          <a:p>
            <a:pPr algn="just"/>
            <a:r>
              <a:rPr lang="en-US" altLang="en-GB" sz="2400" dirty="0">
                <a:latin typeface="Times New Roman" panose="02020603050405020304" charset="0"/>
                <a:cs typeface="Times New Roman" panose="02020603050405020304" charset="0"/>
              </a:rPr>
              <a:t> This will help make deliveries faster, safer, and more reliable. The system aims to reduce human effort and improve delivery services.</a:t>
            </a:r>
          </a:p>
          <a:p>
            <a:pPr marL="0" indent="0" algn="just">
              <a:buNone/>
            </a:pPr>
            <a:endParaRPr lang="en-US" altLang="en-GB" sz="2400" dirty="0">
              <a:latin typeface="Times New Roman" panose="02020603050405020304" charset="0"/>
              <a:cs typeface="Times New Roman" panose="02020603050405020304" charset="0"/>
            </a:endParaRPr>
          </a:p>
          <a:p>
            <a:pPr marL="0" indent="0" algn="just">
              <a:buNone/>
            </a:pPr>
            <a:endParaRPr lang="en-US" altLang="en-GB" sz="2400" dirty="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1B600-9FC5-49FF-3710-9B783C1B81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D4A17F1-58BE-28F2-4B83-611EBC01EDD7}"/>
              </a:ext>
            </a:extLst>
          </p:cNvPr>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3" name="Content Placeholder 2">
            <a:extLst>
              <a:ext uri="{FF2B5EF4-FFF2-40B4-BE49-F238E27FC236}">
                <a16:creationId xmlns:a16="http://schemas.microsoft.com/office/drawing/2014/main" id="{C30CF30A-7F84-94C9-439E-5CF06EBD3261}"/>
              </a:ext>
            </a:extLst>
          </p:cNvPr>
          <p:cNvSpPr>
            <a:spLocks noGrp="1"/>
          </p:cNvSpPr>
          <p:nvPr>
            <p:ph idx="1"/>
          </p:nvPr>
        </p:nvSpPr>
        <p:spPr>
          <a:xfrm>
            <a:off x="307428" y="466531"/>
            <a:ext cx="11579772" cy="783771"/>
          </a:xfrm>
        </p:spPr>
        <p:txBody>
          <a:bodyPr>
            <a:normAutofit/>
          </a:bodyPr>
          <a:lstStyle/>
          <a:p>
            <a:pPr marL="0" indent="0">
              <a:buNone/>
            </a:pPr>
            <a:r>
              <a:rPr lang="en-US" altLang="en-GB" sz="4000" dirty="0">
                <a:latin typeface="Times New Roman" panose="02020603050405020304" pitchFamily="18" charset="0"/>
                <a:cs typeface="Times New Roman" panose="02020603050405020304" pitchFamily="18" charset="0"/>
              </a:rPr>
              <a:t>Block Diagram</a:t>
            </a:r>
          </a:p>
          <a:p>
            <a:pPr marL="0" indent="0" algn="ctr">
              <a:buNone/>
            </a:pPr>
            <a:endParaRPr lang="en-US" altLang="en-GB"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A9C3950-8740-9EFE-C657-94E1EA4A95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424" y="1250302"/>
            <a:ext cx="10037006" cy="4998098"/>
          </a:xfrm>
          <a:prstGeom prst="rect">
            <a:avLst/>
          </a:prstGeom>
        </p:spPr>
      </p:pic>
      <p:sp>
        <p:nvSpPr>
          <p:cNvPr id="6" name="TextBox 5">
            <a:extLst>
              <a:ext uri="{FF2B5EF4-FFF2-40B4-BE49-F238E27FC236}">
                <a16:creationId xmlns:a16="http://schemas.microsoft.com/office/drawing/2014/main" id="{5AC67C35-CB40-9140-06A7-F3A0BC7942D1}"/>
              </a:ext>
            </a:extLst>
          </p:cNvPr>
          <p:cNvSpPr txBox="1"/>
          <p:nvPr/>
        </p:nvSpPr>
        <p:spPr>
          <a:xfrm>
            <a:off x="936170" y="1635967"/>
            <a:ext cx="10832841" cy="369332"/>
          </a:xfrm>
          <a:prstGeom prst="rect">
            <a:avLst/>
          </a:prstGeom>
          <a:noFill/>
        </p:spPr>
        <p:txBody>
          <a:bodyPr wrap="square" rtlCol="0">
            <a:spAutoFit/>
          </a:bodyPr>
          <a:lstStyle/>
          <a:p>
            <a:pPr algn="just"/>
            <a:endParaRPr lang="en-IN" dirty="0"/>
          </a:p>
        </p:txBody>
      </p:sp>
      <p:sp>
        <p:nvSpPr>
          <p:cNvPr id="7" name="TextBox 6">
            <a:extLst>
              <a:ext uri="{FF2B5EF4-FFF2-40B4-BE49-F238E27FC236}">
                <a16:creationId xmlns:a16="http://schemas.microsoft.com/office/drawing/2014/main" id="{86DB3339-F8B0-704C-A30A-8E8898E51140}"/>
              </a:ext>
            </a:extLst>
          </p:cNvPr>
          <p:cNvSpPr txBox="1"/>
          <p:nvPr/>
        </p:nvSpPr>
        <p:spPr>
          <a:xfrm>
            <a:off x="1088570" y="1788367"/>
            <a:ext cx="10832841" cy="369332"/>
          </a:xfrm>
          <a:prstGeom prst="rect">
            <a:avLst/>
          </a:prstGeom>
          <a:noFill/>
        </p:spPr>
        <p:txBody>
          <a:bodyPr wrap="square" rtlCol="0">
            <a:spAutoFit/>
          </a:bodyPr>
          <a:lstStyle/>
          <a:p>
            <a:pPr algn="just"/>
            <a:endParaRPr lang="en-IN" dirty="0"/>
          </a:p>
        </p:txBody>
      </p:sp>
      <p:sp>
        <p:nvSpPr>
          <p:cNvPr id="8" name="TextBox 7">
            <a:extLst>
              <a:ext uri="{FF2B5EF4-FFF2-40B4-BE49-F238E27FC236}">
                <a16:creationId xmlns:a16="http://schemas.microsoft.com/office/drawing/2014/main" id="{06677C57-9859-1BD8-C28C-42622DB23ECC}"/>
              </a:ext>
            </a:extLst>
          </p:cNvPr>
          <p:cNvSpPr txBox="1"/>
          <p:nvPr/>
        </p:nvSpPr>
        <p:spPr>
          <a:xfrm>
            <a:off x="1240970" y="1940767"/>
            <a:ext cx="10832841" cy="369332"/>
          </a:xfrm>
          <a:prstGeom prst="rect">
            <a:avLst/>
          </a:prstGeom>
          <a:noFill/>
        </p:spPr>
        <p:txBody>
          <a:bodyPr wrap="square" rtlCol="0">
            <a:spAutoFit/>
          </a:bodyPr>
          <a:lstStyle/>
          <a:p>
            <a:pPr algn="just"/>
            <a:endParaRPr lang="en-IN" dirty="0"/>
          </a:p>
        </p:txBody>
      </p:sp>
      <p:sp>
        <p:nvSpPr>
          <p:cNvPr id="9" name="TextBox 8">
            <a:extLst>
              <a:ext uri="{FF2B5EF4-FFF2-40B4-BE49-F238E27FC236}">
                <a16:creationId xmlns:a16="http://schemas.microsoft.com/office/drawing/2014/main" id="{8733F24E-703D-5E0C-90F0-335004467642}"/>
              </a:ext>
            </a:extLst>
          </p:cNvPr>
          <p:cNvSpPr txBox="1"/>
          <p:nvPr/>
        </p:nvSpPr>
        <p:spPr>
          <a:xfrm>
            <a:off x="1393370" y="2093167"/>
            <a:ext cx="10832841" cy="369332"/>
          </a:xfrm>
          <a:prstGeom prst="rect">
            <a:avLst/>
          </a:prstGeom>
          <a:noFill/>
        </p:spPr>
        <p:txBody>
          <a:bodyPr wrap="square" rtlCol="0">
            <a:spAutoFit/>
          </a:bodyPr>
          <a:lstStyle/>
          <a:p>
            <a:pPr algn="just"/>
            <a:endParaRPr lang="en-IN" dirty="0"/>
          </a:p>
        </p:txBody>
      </p:sp>
    </p:spTree>
    <p:extLst>
      <p:ext uri="{BB962C8B-B14F-4D97-AF65-F5344CB8AC3E}">
        <p14:creationId xmlns:p14="http://schemas.microsoft.com/office/powerpoint/2010/main" val="4115421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2" name="Title 1"/>
          <p:cNvSpPr>
            <a:spLocks noGrp="1"/>
          </p:cNvSpPr>
          <p:nvPr>
            <p:ph type="title"/>
          </p:nvPr>
        </p:nvSpPr>
        <p:spPr/>
        <p:txBody>
          <a:bodyPr/>
          <a:lstStyle/>
          <a:p>
            <a:r>
              <a:rPr lang="en-US" altLang="en-GB" sz="4000">
                <a:latin typeface="Times New Roman" panose="02020603050405020304" charset="0"/>
                <a:cs typeface="Times New Roman" panose="02020603050405020304" charset="0"/>
              </a:rPr>
              <a:t>Existing System</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altLang="en-GB" sz="2400" dirty="0">
                <a:latin typeface="Times New Roman" panose="02020603050405020304" charset="0"/>
                <a:cs typeface="Times New Roman" panose="02020603050405020304" charset="0"/>
              </a:rPr>
              <a:t>The current courier delivery system mostly depends on human delivery agents using bikes, vans, or on foot. </a:t>
            </a:r>
          </a:p>
          <a:p>
            <a:pPr algn="just">
              <a:buFont typeface="Arial" panose="020B0604020202020204" pitchFamily="34" charset="0"/>
              <a:buChar char="•"/>
            </a:pPr>
            <a:r>
              <a:rPr lang="en-US" altLang="en-GB" sz="2400" dirty="0">
                <a:latin typeface="Times New Roman" panose="02020603050405020304" charset="0"/>
                <a:cs typeface="Times New Roman" panose="02020603050405020304" charset="0"/>
              </a:rPr>
              <a:t>These methods can be slow due to traffic, weather, or road conditions.</a:t>
            </a:r>
          </a:p>
          <a:p>
            <a:pPr algn="just">
              <a:buFont typeface="Arial" panose="020B0604020202020204" pitchFamily="34" charset="0"/>
              <a:buChar char="•"/>
            </a:pPr>
            <a:r>
              <a:rPr lang="en-US" altLang="en-GB" sz="2400" dirty="0">
                <a:latin typeface="Times New Roman" panose="02020603050405020304" charset="0"/>
                <a:cs typeface="Times New Roman" panose="02020603050405020304" charset="0"/>
              </a:rPr>
              <a:t> Deliveries often require human interaction, which can lead to delays or errors. </a:t>
            </a:r>
          </a:p>
          <a:p>
            <a:pPr algn="just">
              <a:buFont typeface="Arial" panose="020B0604020202020204" pitchFamily="34" charset="0"/>
              <a:buChar char="•"/>
            </a:pPr>
            <a:r>
              <a:rPr lang="en-US" altLang="en-GB" sz="2400" dirty="0">
                <a:latin typeface="Times New Roman" panose="02020603050405020304" charset="0"/>
                <a:cs typeface="Times New Roman" panose="02020603050405020304" charset="0"/>
              </a:rPr>
              <a:t>It also increases fuel costs and labor expenses. There is limited automation, making the process less efficient and harder to scale.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2" name="Title 1"/>
          <p:cNvSpPr>
            <a:spLocks noGrp="1"/>
          </p:cNvSpPr>
          <p:nvPr>
            <p:ph type="title"/>
          </p:nvPr>
        </p:nvSpPr>
        <p:spPr/>
        <p:txBody>
          <a:bodyPr>
            <a:normAutofit/>
          </a:bodyPr>
          <a:lstStyle/>
          <a:p>
            <a:r>
              <a:rPr lang="en-GB" altLang="en-US" sz="4000" dirty="0">
                <a:latin typeface="Times New Roman" panose="02020603050405020304" charset="0"/>
                <a:ea typeface="Tahoma" panose="020B0604030504040204" pitchFamily="34" charset="0"/>
                <a:cs typeface="Times New Roman" panose="02020603050405020304" charset="0"/>
              </a:rPr>
              <a:t>Circuit Diagram/</a:t>
            </a:r>
            <a:r>
              <a:rPr lang="en-US" altLang="en-GB" sz="4000" dirty="0">
                <a:latin typeface="Times New Roman" panose="02020603050405020304" charset="0"/>
                <a:ea typeface="Tahoma" panose="020B0604030504040204" pitchFamily="34" charset="0"/>
                <a:cs typeface="Times New Roman" panose="02020603050405020304" charset="0"/>
              </a:rPr>
              <a:t>Simulation</a:t>
            </a:r>
          </a:p>
        </p:txBody>
      </p:sp>
      <p:pic>
        <p:nvPicPr>
          <p:cNvPr id="2097153" name="Picture 2097152"/>
          <p:cNvPicPr/>
          <p:nvPr/>
        </p:nvPicPr>
        <p:blipFill>
          <a:blip r:embed="rId2"/>
          <a:srcRect l="1168" t="7377" r="2977" b="5182"/>
          <a:stretch>
            <a:fillRect/>
          </a:stretch>
        </p:blipFill>
        <p:spPr>
          <a:xfrm>
            <a:off x="627380" y="1896745"/>
            <a:ext cx="10915650" cy="45358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0335" y="214757"/>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2" name="Title 1"/>
          <p:cNvSpPr>
            <a:spLocks noGrp="1"/>
          </p:cNvSpPr>
          <p:nvPr>
            <p:ph type="title"/>
          </p:nvPr>
        </p:nvSpPr>
        <p:spPr/>
        <p:txBody>
          <a:bodyPr>
            <a:normAutofit/>
          </a:bodyPr>
          <a:lstStyle/>
          <a:p>
            <a:r>
              <a:rPr lang="en-US" altLang="en-GB" sz="4000" dirty="0" err="1">
                <a:latin typeface="Times New Roman" panose="02020603050405020304" charset="0"/>
                <a:ea typeface="Tahoma" panose="020B0604030504040204" pitchFamily="34" charset="0"/>
                <a:cs typeface="Times New Roman" panose="02020603050405020304" charset="0"/>
              </a:rPr>
              <a:t>Componentns</a:t>
            </a:r>
          </a:p>
        </p:txBody>
      </p:sp>
      <p:graphicFrame>
        <p:nvGraphicFramePr>
          <p:cNvPr id="3" name="Table 2"/>
          <p:cNvGraphicFramePr>
            <a:graphicFrameLocks noGrp="1"/>
          </p:cNvGraphicFramePr>
          <p:nvPr>
            <p:custDataLst>
              <p:tags r:id="rId1"/>
            </p:custDataLst>
          </p:nvPr>
        </p:nvGraphicFramePr>
        <p:xfrm>
          <a:off x="2750820" y="1880235"/>
          <a:ext cx="6912610" cy="4035425"/>
        </p:xfrm>
        <a:graphic>
          <a:graphicData uri="http://schemas.openxmlformats.org/drawingml/2006/table">
            <a:tbl>
              <a:tblPr firstRow="1" bandRow="1">
                <a:tableStyleId>{5C22544A-7EE6-4342-B048-85BDC9FD1C3A}</a:tableStyleId>
              </a:tblPr>
              <a:tblGrid>
                <a:gridCol w="3456305">
                  <a:extLst>
                    <a:ext uri="{9D8B030D-6E8A-4147-A177-3AD203B41FA5}">
                      <a16:colId xmlns:a16="http://schemas.microsoft.com/office/drawing/2014/main" val="20000"/>
                    </a:ext>
                  </a:extLst>
                </a:gridCol>
                <a:gridCol w="3456305">
                  <a:extLst>
                    <a:ext uri="{9D8B030D-6E8A-4147-A177-3AD203B41FA5}">
                      <a16:colId xmlns:a16="http://schemas.microsoft.com/office/drawing/2014/main" val="20001"/>
                    </a:ext>
                  </a:extLst>
                </a:gridCol>
              </a:tblGrid>
              <a:tr h="565785">
                <a:tc>
                  <a:txBody>
                    <a:bodyPr/>
                    <a:lstStyle/>
                    <a:p>
                      <a:pPr algn="ctr"/>
                      <a:r>
                        <a:rPr lang="en-IN" dirty="0"/>
                        <a:t>Components</a:t>
                      </a:r>
                    </a:p>
                  </a:txBody>
                  <a:tcPr>
                    <a:solidFill>
                      <a:schemeClr val="bg1">
                        <a:lumMod val="50000"/>
                      </a:schemeClr>
                    </a:solidFill>
                  </a:tcPr>
                </a:tc>
                <a:tc>
                  <a:txBody>
                    <a:bodyPr/>
                    <a:lstStyle/>
                    <a:p>
                      <a:pPr algn="ctr"/>
                      <a:r>
                        <a:rPr lang="en-IN" dirty="0"/>
                        <a:t>Cost (Rs.)</a:t>
                      </a:r>
                    </a:p>
                  </a:txBody>
                  <a:tcPr>
                    <a:solidFill>
                      <a:schemeClr val="bg1">
                        <a:lumMod val="50000"/>
                      </a:schemeClr>
                    </a:solidFill>
                  </a:tcPr>
                </a:tc>
                <a:extLst>
                  <a:ext uri="{0D108BD9-81ED-4DB2-BD59-A6C34878D82A}">
                    <a16:rowId xmlns:a16="http://schemas.microsoft.com/office/drawing/2014/main" val="10000"/>
                  </a:ext>
                </a:extLst>
              </a:tr>
              <a:tr h="640080">
                <a:tc>
                  <a:txBody>
                    <a:bodyPr/>
                    <a:lstStyle/>
                    <a:p>
                      <a:pPr algn="ctr"/>
                      <a:r>
                        <a:rPr lang="en-IN" altLang="en-US" sz="1800" dirty="0">
                          <a:solidFill>
                            <a:schemeClr val="bg1"/>
                          </a:solidFill>
                          <a:sym typeface="+mn-ea"/>
                        </a:rPr>
                        <a:t>Arduino Board</a:t>
                      </a:r>
                      <a:endParaRPr lang="en-IN" altLang="en-US" sz="1800" dirty="0">
                        <a:solidFill>
                          <a:schemeClr val="bg1"/>
                        </a:solidFill>
                      </a:endParaRPr>
                    </a:p>
                    <a:p>
                      <a:pPr algn="ctr"/>
                      <a:endParaRPr lang="en-IN" altLang="en-US" sz="1800" dirty="0">
                        <a:solidFill>
                          <a:schemeClr val="bg1"/>
                        </a:solidFill>
                      </a:endParaRPr>
                    </a:p>
                  </a:txBody>
                  <a:tcPr>
                    <a:solidFill>
                      <a:schemeClr val="bg1">
                        <a:lumMod val="50000"/>
                      </a:schemeClr>
                    </a:solidFill>
                  </a:tcPr>
                </a:tc>
                <a:tc>
                  <a:txBody>
                    <a:bodyPr/>
                    <a:lstStyle/>
                    <a:p>
                      <a:pPr algn="ctr"/>
                      <a:r>
                        <a:rPr lang="en-GB" altLang="en-IN" dirty="0">
                          <a:solidFill>
                            <a:schemeClr val="bg1"/>
                          </a:solidFill>
                        </a:rPr>
                        <a:t>250</a:t>
                      </a:r>
                    </a:p>
                  </a:txBody>
                  <a:tcPr>
                    <a:solidFill>
                      <a:schemeClr val="bg1">
                        <a:lumMod val="50000"/>
                      </a:schemeClr>
                    </a:solidFill>
                  </a:tcPr>
                </a:tc>
                <a:extLst>
                  <a:ext uri="{0D108BD9-81ED-4DB2-BD59-A6C34878D82A}">
                    <a16:rowId xmlns:a16="http://schemas.microsoft.com/office/drawing/2014/main" val="10001"/>
                  </a:ext>
                </a:extLst>
              </a:tr>
              <a:tr h="565785">
                <a:tc>
                  <a:txBody>
                    <a:bodyPr/>
                    <a:lstStyle/>
                    <a:p>
                      <a:pPr algn="ctr"/>
                      <a:r>
                        <a:rPr lang="en-GB" altLang="en-IN" dirty="0">
                          <a:solidFill>
                            <a:schemeClr val="bg1"/>
                          </a:solidFill>
                        </a:rPr>
                        <a:t>Motors (4)</a:t>
                      </a:r>
                    </a:p>
                  </a:txBody>
                  <a:tcPr>
                    <a:solidFill>
                      <a:schemeClr val="bg1">
                        <a:lumMod val="50000"/>
                      </a:schemeClr>
                    </a:solidFill>
                  </a:tcPr>
                </a:tc>
                <a:tc>
                  <a:txBody>
                    <a:bodyPr/>
                    <a:lstStyle/>
                    <a:p>
                      <a:pPr algn="ctr"/>
                      <a:r>
                        <a:rPr lang="en-GB" altLang="en-IN" dirty="0">
                          <a:solidFill>
                            <a:schemeClr val="bg1"/>
                          </a:solidFill>
                        </a:rPr>
                        <a:t>360</a:t>
                      </a:r>
                    </a:p>
                  </a:txBody>
                  <a:tcPr>
                    <a:solidFill>
                      <a:schemeClr val="bg1">
                        <a:lumMod val="50000"/>
                      </a:schemeClr>
                    </a:solidFill>
                  </a:tcPr>
                </a:tc>
                <a:extLst>
                  <a:ext uri="{0D108BD9-81ED-4DB2-BD59-A6C34878D82A}">
                    <a16:rowId xmlns:a16="http://schemas.microsoft.com/office/drawing/2014/main" val="10002"/>
                  </a:ext>
                </a:extLst>
              </a:tr>
              <a:tr h="565785">
                <a:tc>
                  <a:txBody>
                    <a:bodyPr/>
                    <a:lstStyle/>
                    <a:p>
                      <a:pPr algn="ctr"/>
                      <a:r>
                        <a:rPr lang="en-IN" dirty="0">
                          <a:solidFill>
                            <a:schemeClr val="bg1"/>
                          </a:solidFill>
                        </a:rPr>
                        <a:t>IR Sensor</a:t>
                      </a:r>
                    </a:p>
                  </a:txBody>
                  <a:tcPr>
                    <a:solidFill>
                      <a:schemeClr val="bg1">
                        <a:lumMod val="50000"/>
                      </a:schemeClr>
                    </a:solidFill>
                  </a:tcPr>
                </a:tc>
                <a:tc>
                  <a:txBody>
                    <a:bodyPr/>
                    <a:lstStyle/>
                    <a:p>
                      <a:pPr algn="ctr"/>
                      <a:r>
                        <a:rPr lang="en-IN" dirty="0">
                          <a:solidFill>
                            <a:schemeClr val="bg1"/>
                          </a:solidFill>
                        </a:rPr>
                        <a:t>30</a:t>
                      </a:r>
                    </a:p>
                  </a:txBody>
                  <a:tcPr>
                    <a:solidFill>
                      <a:schemeClr val="bg1">
                        <a:lumMod val="50000"/>
                      </a:schemeClr>
                    </a:solidFill>
                  </a:tcPr>
                </a:tc>
                <a:extLst>
                  <a:ext uri="{0D108BD9-81ED-4DB2-BD59-A6C34878D82A}">
                    <a16:rowId xmlns:a16="http://schemas.microsoft.com/office/drawing/2014/main" val="10003"/>
                  </a:ext>
                </a:extLst>
              </a:tr>
              <a:tr h="565785">
                <a:tc>
                  <a:txBody>
                    <a:bodyPr/>
                    <a:lstStyle/>
                    <a:p>
                      <a:pPr algn="ctr"/>
                      <a:r>
                        <a:rPr lang="en-IN" sz="1800" dirty="0">
                          <a:solidFill>
                            <a:schemeClr val="bg1"/>
                          </a:solidFill>
                          <a:sym typeface="+mn-ea"/>
                        </a:rPr>
                        <a:t>Battery</a:t>
                      </a:r>
                    </a:p>
                  </a:txBody>
                  <a:tcPr>
                    <a:solidFill>
                      <a:schemeClr val="bg1">
                        <a:lumMod val="50000"/>
                      </a:schemeClr>
                    </a:solidFill>
                  </a:tcPr>
                </a:tc>
                <a:tc>
                  <a:txBody>
                    <a:bodyPr/>
                    <a:lstStyle/>
                    <a:p>
                      <a:pPr algn="ctr"/>
                      <a:r>
                        <a:rPr lang="en-GB" altLang="en-IN" dirty="0">
                          <a:solidFill>
                            <a:schemeClr val="bg1"/>
                          </a:solidFill>
                        </a:rPr>
                        <a:t>300</a:t>
                      </a:r>
                    </a:p>
                  </a:txBody>
                  <a:tcPr>
                    <a:solidFill>
                      <a:schemeClr val="bg1">
                        <a:lumMod val="50000"/>
                      </a:schemeClr>
                    </a:solidFill>
                  </a:tcPr>
                </a:tc>
                <a:extLst>
                  <a:ext uri="{0D108BD9-81ED-4DB2-BD59-A6C34878D82A}">
                    <a16:rowId xmlns:a16="http://schemas.microsoft.com/office/drawing/2014/main" val="10004"/>
                  </a:ext>
                </a:extLst>
              </a:tr>
              <a:tr h="566420">
                <a:tc>
                  <a:txBody>
                    <a:bodyPr/>
                    <a:lstStyle/>
                    <a:p>
                      <a:pPr algn="ctr"/>
                      <a:r>
                        <a:rPr lang="en-IN" altLang="en-US" sz="1800" dirty="0">
                          <a:solidFill>
                            <a:schemeClr val="bg1"/>
                          </a:solidFill>
                          <a:sym typeface="+mn-ea"/>
                        </a:rPr>
                        <a:t>Motor Driver Card</a:t>
                      </a:r>
                    </a:p>
                  </a:txBody>
                  <a:tcPr>
                    <a:solidFill>
                      <a:schemeClr val="bg1">
                        <a:lumMod val="50000"/>
                      </a:schemeClr>
                    </a:solidFill>
                  </a:tcPr>
                </a:tc>
                <a:tc>
                  <a:txBody>
                    <a:bodyPr/>
                    <a:lstStyle/>
                    <a:p>
                      <a:pPr algn="ctr"/>
                      <a:r>
                        <a:rPr lang="en-GB" altLang="en-IN" dirty="0">
                          <a:solidFill>
                            <a:schemeClr val="bg1"/>
                          </a:solidFill>
                        </a:rPr>
                        <a:t>350</a:t>
                      </a:r>
                    </a:p>
                  </a:txBody>
                  <a:tcPr>
                    <a:solidFill>
                      <a:schemeClr val="bg1">
                        <a:lumMod val="50000"/>
                      </a:schemeClr>
                    </a:solidFill>
                  </a:tcPr>
                </a:tc>
                <a:extLst>
                  <a:ext uri="{0D108BD9-81ED-4DB2-BD59-A6C34878D82A}">
                    <a16:rowId xmlns:a16="http://schemas.microsoft.com/office/drawing/2014/main" val="10005"/>
                  </a:ext>
                </a:extLst>
              </a:tr>
              <a:tr h="565785">
                <a:tc>
                  <a:txBody>
                    <a:bodyPr/>
                    <a:lstStyle/>
                    <a:p>
                      <a:pPr algn="ctr"/>
                      <a:r>
                        <a:rPr lang="en-GB" altLang="en-IN" dirty="0">
                          <a:solidFill>
                            <a:schemeClr val="bg1"/>
                          </a:solidFill>
                        </a:rPr>
                        <a:t>Jumper wires</a:t>
                      </a:r>
                    </a:p>
                  </a:txBody>
                  <a:tcPr>
                    <a:solidFill>
                      <a:schemeClr val="bg1">
                        <a:lumMod val="50000"/>
                      </a:schemeClr>
                    </a:solidFill>
                  </a:tcPr>
                </a:tc>
                <a:tc>
                  <a:txBody>
                    <a:bodyPr/>
                    <a:lstStyle/>
                    <a:p>
                      <a:pPr algn="ctr"/>
                      <a:r>
                        <a:rPr lang="en-GB" altLang="en-IN" dirty="0">
                          <a:solidFill>
                            <a:schemeClr val="bg1"/>
                          </a:solidFill>
                        </a:rPr>
                        <a:t>50</a:t>
                      </a:r>
                    </a:p>
                  </a:txBody>
                  <a:tcPr>
                    <a:solidFill>
                      <a:schemeClr val="bg1">
                        <a:lumMod val="50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9540"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ltLang="en-US" dirty="0">
                <a:latin typeface="Tahoma" panose="020B0604030504040204" pitchFamily="34" charset="0"/>
                <a:ea typeface="Tahoma" panose="020B0604030504040204" pitchFamily="34" charset="0"/>
                <a:cs typeface="Tahoma" panose="020B0604030504040204" pitchFamily="34" charset="0"/>
                <a:sym typeface="+mn-ea"/>
              </a:rPr>
              <a:t>Circuit Diagram/</a:t>
            </a:r>
            <a:r>
              <a:rPr lang="en-US" altLang="en-GB" dirty="0">
                <a:latin typeface="Tahoma" panose="020B0604030504040204" pitchFamily="34" charset="0"/>
                <a:ea typeface="Tahoma" panose="020B0604030504040204" pitchFamily="34" charset="0"/>
                <a:cs typeface="Tahoma" panose="020B0604030504040204" pitchFamily="34" charset="0"/>
                <a:sym typeface="+mn-ea"/>
              </a:rPr>
              <a:t>Simulation</a:t>
            </a:r>
            <a:endParaRPr lang="en-IN" dirty="0"/>
          </a:p>
        </p:txBody>
      </p:sp>
      <p:sp>
        <p:nvSpPr>
          <p:cNvPr id="2" name="Title 1"/>
          <p:cNvSpPr>
            <a:spLocks noGrp="1"/>
          </p:cNvSpPr>
          <p:nvPr>
            <p:ph type="title"/>
          </p:nvPr>
        </p:nvSpPr>
        <p:spPr>
          <a:xfrm>
            <a:off x="838200" y="365125"/>
            <a:ext cx="10515600" cy="1325563"/>
          </a:xfrm>
        </p:spPr>
        <p:txBody>
          <a:bodyPr>
            <a:normAutofit/>
          </a:bodyPr>
          <a:lstStyle/>
          <a:p>
            <a:r>
              <a:rPr lang="en-IN" altLang="en-GB" sz="4000" dirty="0">
                <a:latin typeface="Times New Roman" panose="02020603050405020304" charset="0"/>
                <a:ea typeface="Tahoma" panose="020B0604030504040204" pitchFamily="34" charset="0"/>
                <a:cs typeface="Times New Roman" panose="02020603050405020304" charset="0"/>
              </a:rPr>
              <a:t>Conclusion</a:t>
            </a:r>
          </a:p>
        </p:txBody>
      </p:sp>
      <p:sp>
        <p:nvSpPr>
          <p:cNvPr id="3" name="TextBox 2"/>
          <p:cNvSpPr txBox="1"/>
          <p:nvPr/>
        </p:nvSpPr>
        <p:spPr>
          <a:xfrm>
            <a:off x="4706007" y="3578772"/>
            <a:ext cx="1221827" cy="914400"/>
          </a:xfrm>
          <a:prstGeom prst="rect">
            <a:avLst/>
          </a:prstGeom>
          <a:solidFill>
            <a:schemeClr val="bg1"/>
          </a:solidFill>
        </p:spPr>
        <p:txBody>
          <a:bodyPr wrap="square" rtlCol="0">
            <a:spAutoFit/>
          </a:bodyPr>
          <a:lstStyle/>
          <a:p>
            <a:endParaRPr lang="en-IN" dirty="0"/>
          </a:p>
        </p:txBody>
      </p:sp>
      <p:sp>
        <p:nvSpPr>
          <p:cNvPr id="8" name="Text Box 7"/>
          <p:cNvSpPr txBox="1"/>
          <p:nvPr/>
        </p:nvSpPr>
        <p:spPr>
          <a:xfrm>
            <a:off x="913765" y="1617345"/>
            <a:ext cx="10535285" cy="4715510"/>
          </a:xfrm>
          <a:prstGeom prst="rect">
            <a:avLst/>
          </a:prstGeom>
          <a:noFill/>
        </p:spPr>
        <p:txBody>
          <a:bodyPr wrap="square" rtlCol="0">
            <a:noAutofit/>
          </a:bodyPr>
          <a:lstStyle/>
          <a:p>
            <a:pPr indent="457200" algn="just"/>
            <a:r>
              <a:rPr lang="en-US" altLang="en-GB" sz="2400">
                <a:latin typeface="Times New Roman" panose="02020603050405020304" charset="0"/>
                <a:cs typeface="Times New Roman" panose="02020603050405020304" charset="0"/>
              </a:rPr>
              <a:t>A rover-based courier delivery vehicle offers a smart solution to modern delivery challenges. It can reduce human effort, cut delivery time, and lower costs. With features like obstacle detection and autonomous navigation, it ensures safe and contactless delivery. This system can improve last-mile logistics, especially in urban and campus areas. Overall, it brings efficiency, safety, and innovation to courier services.</a:t>
            </a:r>
          </a:p>
          <a:p>
            <a:pPr algn="just"/>
            <a:endParaRPr lang="en-US" altLang="en-GB" sz="2800">
              <a:latin typeface="Times New Roman" panose="02020603050405020304" charset="0"/>
              <a:cs typeface="Times New Roman" panose="02020603050405020304" charset="0"/>
            </a:endParaRPr>
          </a:p>
          <a:p>
            <a:pPr algn="just"/>
            <a:endParaRPr lang="en-GB" altLang="en-US" sz="28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2" name="Title 1"/>
          <p:cNvSpPr>
            <a:spLocks noGrp="1"/>
          </p:cNvSpPr>
          <p:nvPr>
            <p:ph type="title"/>
          </p:nvPr>
        </p:nvSpPr>
        <p:spPr/>
        <p:txBody>
          <a:bodyPr/>
          <a:lstStyle/>
          <a:p>
            <a:pPr algn="just"/>
            <a:r>
              <a:rPr lang="en-US" altLang="en-GB" sz="4000" dirty="0">
                <a:latin typeface="Times New Roman" panose="02020603050405020304" charset="0"/>
                <a:cs typeface="Times New Roman" panose="02020603050405020304" charset="0"/>
              </a:rPr>
              <a:t>References</a:t>
            </a:r>
          </a:p>
        </p:txBody>
      </p:sp>
      <p:sp>
        <p:nvSpPr>
          <p:cNvPr id="3" name="Content Placeholder 2"/>
          <p:cNvSpPr>
            <a:spLocks noGrp="1"/>
          </p:cNvSpPr>
          <p:nvPr>
            <p:ph idx="1"/>
          </p:nvPr>
        </p:nvSpPr>
        <p:spPr>
          <a:xfrm>
            <a:off x="897889" y="1691005"/>
            <a:ext cx="10455911" cy="4521200"/>
          </a:xfrm>
        </p:spPr>
        <p:txBody>
          <a:bodyPr>
            <a:normAutofit fontScale="90000" lnSpcReduction="20000"/>
          </a:bodyPr>
          <a:lstStyle/>
          <a:p>
            <a:pPr marL="0" indent="0" algn="just">
              <a:buNone/>
            </a:pPr>
            <a:r>
              <a:rPr lang="en-IN" altLang="en-US" sz="2600" dirty="0">
                <a:latin typeface="Times New Roman" panose="02020603050405020304" charset="0"/>
                <a:cs typeface="Times New Roman" panose="02020603050405020304" charset="0"/>
              </a:rPr>
              <a:t>1. </a:t>
            </a:r>
            <a:r>
              <a:rPr lang="en-US" altLang="en-US" sz="2700" dirty="0">
                <a:latin typeface="Times New Roman" panose="02020603050405020304" charset="0"/>
                <a:cs typeface="Times New Roman" panose="02020603050405020304" charset="0"/>
              </a:rPr>
              <a:t>Kumar, A., &amp; Singh, R. (2020). "Design and Implementation of an Arduino</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Based Rover based courier delivery vehicle for Package Delivery.“</a:t>
            </a:r>
          </a:p>
          <a:p>
            <a:pPr marL="0" indent="0" algn="just">
              <a:buNone/>
            </a:pPr>
            <a:r>
              <a:rPr lang="en-US" altLang="en-US" sz="2700" dirty="0">
                <a:latin typeface="Times New Roman" panose="02020603050405020304" charset="0"/>
                <a:cs typeface="Times New Roman" panose="02020603050405020304" charset="0"/>
              </a:rPr>
              <a:t>    International Journal of Robotics Research and Development, 8(2), 45–53.</a:t>
            </a:r>
          </a:p>
          <a:p>
            <a:pPr marL="0" indent="0" algn="just">
              <a:buNone/>
            </a:pPr>
            <a:endParaRPr lang="en-US" altLang="en-US" sz="2700" dirty="0">
              <a:latin typeface="Times New Roman" panose="02020603050405020304" charset="0"/>
              <a:cs typeface="Times New Roman" panose="02020603050405020304" charset="0"/>
            </a:endParaRPr>
          </a:p>
          <a:p>
            <a:pPr marL="0" indent="0" algn="just">
              <a:buNone/>
            </a:pPr>
            <a:r>
              <a:rPr lang="en-US" altLang="en-US" sz="2700" dirty="0">
                <a:latin typeface="Times New Roman" panose="02020603050405020304" charset="0"/>
                <a:cs typeface="Times New Roman" panose="02020603050405020304" charset="0"/>
              </a:rPr>
              <a:t>2. Patel, S., &amp; Desai, V. (2019). "Autonomous Delivery Robots for Last-Mile </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Logistics: A Review." Journal of Automation and Smart Systems, 11(4), 210–</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220.</a:t>
            </a:r>
          </a:p>
          <a:p>
            <a:pPr marL="0" indent="0" algn="just">
              <a:buNone/>
            </a:pPr>
            <a:endParaRPr lang="en-US" altLang="en-US" sz="2700" dirty="0">
              <a:latin typeface="Times New Roman" panose="02020603050405020304" charset="0"/>
              <a:cs typeface="Times New Roman" panose="02020603050405020304" charset="0"/>
            </a:endParaRPr>
          </a:p>
          <a:p>
            <a:pPr marL="0" indent="0" algn="just">
              <a:buNone/>
            </a:pPr>
            <a:r>
              <a:rPr lang="en-US" altLang="en-US" sz="2700" dirty="0">
                <a:latin typeface="Times New Roman" panose="02020603050405020304" charset="0"/>
                <a:cs typeface="Times New Roman" panose="02020603050405020304" charset="0"/>
              </a:rPr>
              <a:t>3. Chen, L., &amp; Wang, J. (2018). "Rover based courier delivery vehicle with </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Obstacle Avoidance for Indoor Courier Delivery." Proceedings of the IEEE </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International Conference on Robotics and Automation, 3456–3461.</a:t>
            </a:r>
          </a:p>
          <a:p>
            <a:pPr marL="0" indent="0" algn="just">
              <a:buNone/>
            </a:pPr>
            <a:endParaRPr lang="en-US" altLang="en-US" sz="2700" dirty="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5" name="Rectangle 4"/>
          <p:cNvSpPr/>
          <p:nvPr/>
        </p:nvSpPr>
        <p:spPr>
          <a:xfrm>
            <a:off x="140335" y="164592"/>
            <a:ext cx="11911330" cy="6528816"/>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sp>
        <p:nvSpPr>
          <p:cNvPr id="4" name="Title 1"/>
          <p:cNvSpPr>
            <a:spLocks noGrp="1"/>
          </p:cNvSpPr>
          <p:nvPr/>
        </p:nvSpPr>
        <p:spPr>
          <a:xfrm>
            <a:off x="838200" y="492125"/>
            <a:ext cx="10642600" cy="10896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GB" sz="4000" dirty="0">
                <a:latin typeface="Times New Roman" panose="02020603050405020304" charset="0"/>
                <a:cs typeface="Times New Roman" panose="02020603050405020304" charset="0"/>
              </a:rPr>
              <a:t>References</a:t>
            </a:r>
          </a:p>
        </p:txBody>
      </p:sp>
      <p:sp>
        <p:nvSpPr>
          <p:cNvPr id="6" name="Content Placeholder 2"/>
          <p:cNvSpPr>
            <a:spLocks noGrp="1"/>
          </p:cNvSpPr>
          <p:nvPr/>
        </p:nvSpPr>
        <p:spPr>
          <a:xfrm>
            <a:off x="958215" y="1691005"/>
            <a:ext cx="10987405" cy="4521200"/>
          </a:xfrm>
          <a:prstGeom prst="rect">
            <a:avLst/>
          </a:prstGeom>
        </p:spPr>
        <p:txBody>
          <a:bodyPr vert="horz" lIns="91440" tIns="45720" rIns="91440" bIns="45720" rtlCol="0">
            <a:normAutofit fontScale="9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600" dirty="0">
                <a:latin typeface="Times New Roman" panose="02020603050405020304" charset="0"/>
                <a:cs typeface="Times New Roman" panose="02020603050405020304" charset="0"/>
              </a:rPr>
              <a:t>3. </a:t>
            </a:r>
            <a:r>
              <a:rPr lang="en-US" altLang="en-US" sz="2700" dirty="0">
                <a:latin typeface="Times New Roman" panose="02020603050405020304" charset="0"/>
                <a:cs typeface="Times New Roman" panose="02020603050405020304" charset="0"/>
              </a:rPr>
              <a:t>Chen, L., &amp; Wang, J. (2018). "Rover based courier delivery vehicle with </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Obstacle Avoidance for Indoor Courier Delivery." Proceedings of the IEEE </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International Conference on Robotics and Automation, 3456–3461.</a:t>
            </a:r>
          </a:p>
          <a:p>
            <a:pPr marL="0" indent="0" algn="just">
              <a:buNone/>
            </a:pPr>
            <a:endParaRPr lang="en-US" altLang="en-US" sz="2700" dirty="0">
              <a:latin typeface="Times New Roman" panose="02020603050405020304" charset="0"/>
              <a:cs typeface="Times New Roman" panose="02020603050405020304" charset="0"/>
            </a:endParaRPr>
          </a:p>
          <a:p>
            <a:pPr marL="0" indent="0" algn="just">
              <a:buNone/>
            </a:pPr>
            <a:r>
              <a:rPr lang="en-US" altLang="en-US" sz="2700" dirty="0">
                <a:latin typeface="Times New Roman" panose="02020603050405020304" charset="0"/>
                <a:cs typeface="Times New Roman" panose="02020603050405020304" charset="0"/>
              </a:rPr>
              <a:t>4. Gupta, P., &amp; Sharma, M. (2021). "Low-Cost Autonomous Delivery Rover </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Using IR Sensors and Arduino." International Journal of Embedded Systems, </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15(3), 128–135.</a:t>
            </a:r>
          </a:p>
          <a:p>
            <a:pPr marL="0" indent="0" algn="just">
              <a:buNone/>
            </a:pPr>
            <a:endParaRPr lang="en-US" altLang="en-US" sz="2700" dirty="0">
              <a:latin typeface="Times New Roman" panose="02020603050405020304" charset="0"/>
              <a:cs typeface="Times New Roman" panose="02020603050405020304" charset="0"/>
            </a:endParaRPr>
          </a:p>
          <a:p>
            <a:pPr marL="0" indent="0" algn="just">
              <a:buNone/>
            </a:pPr>
            <a:r>
              <a:rPr lang="en-US" altLang="en-US" sz="2700" dirty="0">
                <a:latin typeface="Times New Roman" panose="02020603050405020304" charset="0"/>
                <a:cs typeface="Times New Roman" panose="02020603050405020304" charset="0"/>
              </a:rPr>
              <a:t>5. Thomas, R., &amp; Lopez, M. (2017). "Path Tracking and Navigation Algorithms</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for Mobile Delivery Robots." Journal of Intelligent &amp; Robotic Systems,</a:t>
            </a:r>
            <a:r>
              <a:rPr lang=""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87(1),</a:t>
            </a:r>
            <a:r>
              <a:rPr lang="" altLang="en-US" sz="2700" dirty="0">
                <a:latin typeface="Times New Roman" panose="02020603050405020304" charset="0"/>
                <a:cs typeface="Times New Roman" panose="02020603050405020304" charset="0"/>
              </a:rPr>
              <a:t> </a:t>
            </a:r>
          </a:p>
          <a:p>
            <a:pPr marL="0" indent="0" algn="just">
              <a:buNone/>
            </a:pPr>
            <a:r>
              <a:rPr lang="en-IN" altLang="en-US" sz="2700" dirty="0">
                <a:latin typeface="Times New Roman" panose="02020603050405020304" charset="0"/>
                <a:cs typeface="Times New Roman" panose="02020603050405020304" charset="0"/>
              </a:rPr>
              <a:t>    </a:t>
            </a:r>
            <a:r>
              <a:rPr lang="en-US" altLang="en-US" sz="2700" dirty="0">
                <a:latin typeface="Times New Roman" panose="02020603050405020304" charset="0"/>
                <a:cs typeface="Times New Roman" panose="02020603050405020304" charset="0"/>
              </a:rPr>
              <a:t>59–70.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44*316"/>
  <p:tag name="TABLE_ENDDRAG_RECT" val="216*149*544*31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721</Words>
  <Application>Microsoft Office PowerPoint</Application>
  <PresentationFormat>Widescreen</PresentationFormat>
  <Paragraphs>81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Tahoma</vt:lpstr>
      <vt:lpstr>Times New Roman</vt:lpstr>
      <vt:lpstr>Office Theme</vt:lpstr>
      <vt:lpstr>DEPARTMENT OF ELECTRONICS AND COMMUNICATION ENGINEERING  Academic Year 2024-2025 (EVEN SEM)</vt:lpstr>
      <vt:lpstr>PowerPoint Presentation</vt:lpstr>
      <vt:lpstr>PowerPoint Presentation</vt:lpstr>
      <vt:lpstr>Problem Statement</vt:lpstr>
      <vt:lpstr>Objectives</vt:lpstr>
      <vt:lpstr>PowerPoint Presentation</vt:lpstr>
      <vt:lpstr>Existing System</vt:lpstr>
      <vt:lpstr>Circuit Diagram/Simulation</vt:lpstr>
      <vt:lpstr>Componentns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ELECTRONICS AND COMMUNICATION ENGINEERING  Academic Year 2024-2025 (EVEN SEM)</dc:title>
  <dc:creator>Dinakaran V</dc:creator>
  <cp:lastModifiedBy>Dinakaran V</cp:lastModifiedBy>
  <cp:revision>19</cp:revision>
  <dcterms:created xsi:type="dcterms:W3CDTF">2025-01-31T04:50:00Z</dcterms:created>
  <dcterms:modified xsi:type="dcterms:W3CDTF">2025-06-02T15:13:38Z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107F37D6FDB54A88833DC0B68488428B_12</vt:lpwstr>
  </property>
  <property fmtid="{D5CDD505-2E9C-101B-9397-08002B2CF9AE}" pid="3" name="KSOProductBuildVer">
    <vt:lpwstr>1033-12.2.0.21179</vt:lpwstr>
  </property>
</Properties>
</file>